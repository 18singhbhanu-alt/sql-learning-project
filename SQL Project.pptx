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7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1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643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05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08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98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26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587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28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56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826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2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063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3886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686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58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925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86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58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D919F-22E8-47C6-A165-5C7658B074D3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2BCAC-4CE3-47E1-BE54-99D28DA41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066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mysql.com/downloads/installer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79CC-5C20-4FB6-AAA3-663E15021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68" y="901454"/>
            <a:ext cx="7209117" cy="1228165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PRESENTATION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53559-4E59-4130-9D23-0ECE54AAB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212" y="2026023"/>
            <a:ext cx="10390094" cy="36127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800" b="1" dirty="0"/>
              <a:t>   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5957944A-51AC-4BE0-8C71-89F91A45F930}"/>
              </a:ext>
            </a:extLst>
          </p:cNvPr>
          <p:cNvSpPr/>
          <p:nvPr/>
        </p:nvSpPr>
        <p:spPr>
          <a:xfrm flipH="1">
            <a:off x="7673785" y="582706"/>
            <a:ext cx="1461247" cy="1586754"/>
          </a:xfrm>
          <a:prstGeom prst="ca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AE6A16-E9CF-4238-B444-5BAF65F00046}"/>
              </a:ext>
            </a:extLst>
          </p:cNvPr>
          <p:cNvSpPr/>
          <p:nvPr/>
        </p:nvSpPr>
        <p:spPr>
          <a:xfrm>
            <a:off x="1093694" y="2161139"/>
            <a:ext cx="2160494" cy="707887"/>
          </a:xfrm>
          <a:prstGeom prst="roundRect">
            <a:avLst>
              <a:gd name="adj" fmla="val 2659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D3E38-8FED-413A-BCAC-64349D5EE124}"/>
              </a:ext>
            </a:extLst>
          </p:cNvPr>
          <p:cNvSpPr txBox="1"/>
          <p:nvPr/>
        </p:nvSpPr>
        <p:spPr>
          <a:xfrm>
            <a:off x="2528046" y="2922652"/>
            <a:ext cx="54953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SQL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62D8B0-C6E6-4E09-B4CB-035079EDE0BB}"/>
              </a:ext>
            </a:extLst>
          </p:cNvPr>
          <p:cNvSpPr/>
          <p:nvPr/>
        </p:nvSpPr>
        <p:spPr>
          <a:xfrm>
            <a:off x="869576" y="3722998"/>
            <a:ext cx="2160494" cy="70788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Subtitle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F37C16-A49A-432A-A1AF-708CF28E4327}"/>
              </a:ext>
            </a:extLst>
          </p:cNvPr>
          <p:cNvSpPr txBox="1"/>
          <p:nvPr/>
        </p:nvSpPr>
        <p:spPr>
          <a:xfrm>
            <a:off x="2411506" y="4476525"/>
            <a:ext cx="69835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Query Language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E39D3F-FCEE-4B37-BF1E-3A6B2A10E146}"/>
              </a:ext>
            </a:extLst>
          </p:cNvPr>
          <p:cNvSpPr txBox="1"/>
          <p:nvPr/>
        </p:nvSpPr>
        <p:spPr>
          <a:xfrm>
            <a:off x="7817224" y="5845732"/>
            <a:ext cx="32093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BHANU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C77A9E-ACD1-4DFA-88BA-D5176AE57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27977" y="-573741"/>
            <a:ext cx="690282" cy="183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95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E652DCC-E0E8-4E50-BCF8-7A4377FED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598" y="3429000"/>
            <a:ext cx="1007745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used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store, retrieve, update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SQL works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Relational Database Management Systems (RDBMS)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94BCFD-E8D4-4A79-A60C-267E897EE4B9}"/>
              </a:ext>
            </a:extLst>
          </p:cNvPr>
          <p:cNvSpPr/>
          <p:nvPr/>
        </p:nvSpPr>
        <p:spPr>
          <a:xfrm>
            <a:off x="47623" y="4801395"/>
            <a:ext cx="4320987" cy="498012"/>
          </a:xfrm>
          <a:prstGeom prst="roundRect">
            <a:avLst>
              <a:gd name="adj" fmla="val 33975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Examples of RDBMS: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D8F6E37-919A-46D7-8F18-F9728E86A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48" y="5433552"/>
            <a:ext cx="627529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Oracle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 SQL Server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A08E59-03B6-4AC4-8B25-425CC6B7B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329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353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074579-646E-459B-90BE-66C28F3901DA}"/>
              </a:ext>
            </a:extLst>
          </p:cNvPr>
          <p:cNvSpPr txBox="1"/>
          <p:nvPr/>
        </p:nvSpPr>
        <p:spPr>
          <a:xfrm>
            <a:off x="3316939" y="599000"/>
            <a:ext cx="6096000" cy="758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4000" b="1" kern="100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Why is SQL Important?</a:t>
            </a:r>
            <a:endParaRPr lang="en-IN" sz="40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16C43F-9B0D-4089-97BE-E61C1F7042F3}"/>
              </a:ext>
            </a:extLst>
          </p:cNvPr>
          <p:cNvSpPr txBox="1"/>
          <p:nvPr/>
        </p:nvSpPr>
        <p:spPr>
          <a:xfrm>
            <a:off x="838200" y="1297399"/>
            <a:ext cx="8794377" cy="235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2800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Handles large amounts of data efficiently</a:t>
            </a:r>
            <a:endParaRPr lang="en-IN" sz="2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2800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Helps in Data Analysis &amp; Decision Making</a:t>
            </a:r>
            <a:endParaRPr lang="en-IN" sz="2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IN" sz="2800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Essential for High-Demand Careers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2800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Use in almost every industry</a:t>
            </a:r>
            <a:endParaRPr lang="en-IN" sz="2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C914-2E0D-4A94-8917-8D3856B93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70" y="3695303"/>
            <a:ext cx="9637547" cy="318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072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6232C1-8B1C-48E9-A2C8-B76F76EB8B7F}"/>
              </a:ext>
            </a:extLst>
          </p:cNvPr>
          <p:cNvSpPr txBox="1"/>
          <p:nvPr/>
        </p:nvSpPr>
        <p:spPr>
          <a:xfrm>
            <a:off x="2608729" y="897382"/>
            <a:ext cx="6992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IN" sz="3600" b="1" dirty="0"/>
              <a:t> is a Database?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046EC0-A909-4620-9AA2-7CCEA2D13FE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3388" y="1450779"/>
            <a:ext cx="8364071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database is an organized collection of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information in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records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data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inventory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9624EA-E771-45F2-AB1B-8ACBF85562DE}"/>
              </a:ext>
            </a:extLst>
          </p:cNvPr>
          <p:cNvSpPr/>
          <p:nvPr/>
        </p:nvSpPr>
        <p:spPr>
          <a:xfrm>
            <a:off x="663388" y="2235137"/>
            <a:ext cx="1846729" cy="519954"/>
          </a:xfrm>
          <a:prstGeom prst="roundRect">
            <a:avLst>
              <a:gd name="adj" fmla="val 29167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Examples: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7284E9-F517-4316-AE8D-5331B62869F5}"/>
              </a:ext>
            </a:extLst>
          </p:cNvPr>
          <p:cNvSpPr txBox="1"/>
          <p:nvPr/>
        </p:nvSpPr>
        <p:spPr>
          <a:xfrm>
            <a:off x="2608729" y="42207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DBMS?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333BED4-C47C-4B11-8CE3-493E5B09A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05" y="5005127"/>
            <a:ext cx="58448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DBMS = Database Management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that manages databases</a:t>
            </a:r>
          </a:p>
        </p:txBody>
      </p:sp>
    </p:spTree>
    <p:extLst>
      <p:ext uri="{BB962C8B-B14F-4D97-AF65-F5344CB8AC3E}">
        <p14:creationId xmlns:p14="http://schemas.microsoft.com/office/powerpoint/2010/main" val="379305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EFCD16-4775-4ED4-B4BC-B1D1A66D0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964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297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6DAD55-95E8-4E4D-A3BE-C12598F2CF11}"/>
              </a:ext>
            </a:extLst>
          </p:cNvPr>
          <p:cNvSpPr txBox="1"/>
          <p:nvPr/>
        </p:nvSpPr>
        <p:spPr>
          <a:xfrm>
            <a:off x="3684493" y="589070"/>
            <a:ext cx="3792071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DDL Commands</a:t>
            </a:r>
            <a:endParaRPr lang="en-IN" sz="36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2AEF44-6812-405F-B033-66FF883FC706}"/>
              </a:ext>
            </a:extLst>
          </p:cNvPr>
          <p:cNvSpPr txBox="1"/>
          <p:nvPr/>
        </p:nvSpPr>
        <p:spPr>
          <a:xfrm>
            <a:off x="3433482" y="1902716"/>
            <a:ext cx="6096000" cy="208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Create database or table</a:t>
            </a:r>
            <a:endParaRPr lang="en-IN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ALTER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Modify structure</a:t>
            </a:r>
            <a:endParaRPr lang="en-IN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Delete database or table</a:t>
            </a:r>
            <a:endParaRPr lang="en-IN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TRUNCATE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Remove all records</a:t>
            </a:r>
            <a:endParaRPr lang="en-IN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152EA-E821-4909-A21A-B8198DA3893E}"/>
              </a:ext>
            </a:extLst>
          </p:cNvPr>
          <p:cNvSpPr txBox="1"/>
          <p:nvPr/>
        </p:nvSpPr>
        <p:spPr>
          <a:xfrm>
            <a:off x="3048000" y="4491319"/>
            <a:ext cx="6096000" cy="2202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TABLE Students (</a:t>
            </a:r>
            <a:b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ID INT,</a:t>
            </a:r>
            <a:b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Name VARCHAR(50),</a:t>
            </a:r>
            <a:b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Age INT</a:t>
            </a:r>
            <a:b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23CB22-0696-4E8A-A182-40E8531EDC75}"/>
              </a:ext>
            </a:extLst>
          </p:cNvPr>
          <p:cNvSpPr/>
          <p:nvPr/>
        </p:nvSpPr>
        <p:spPr>
          <a:xfrm rot="10800000" flipV="1">
            <a:off x="1013011" y="3916700"/>
            <a:ext cx="1577791" cy="57461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b="1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400" b="1" kern="100" dirty="0">
              <a:solidFill>
                <a:schemeClr val="bg1"/>
              </a:solidFill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EB67D-D025-42ED-9389-33B21D72BCC3}"/>
              </a:ext>
            </a:extLst>
          </p:cNvPr>
          <p:cNvSpPr txBox="1"/>
          <p:nvPr/>
        </p:nvSpPr>
        <p:spPr>
          <a:xfrm>
            <a:off x="1801907" y="1283254"/>
            <a:ext cx="6096000" cy="49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 to define database structure</a:t>
            </a:r>
            <a:endParaRPr lang="en-IN" sz="2400" b="1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082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00FED8-ED31-4C3F-AE71-DECE91A516B3}"/>
              </a:ext>
            </a:extLst>
          </p:cNvPr>
          <p:cNvSpPr txBox="1"/>
          <p:nvPr/>
        </p:nvSpPr>
        <p:spPr>
          <a:xfrm>
            <a:off x="3334871" y="757727"/>
            <a:ext cx="38817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DML Commands</a:t>
            </a:r>
            <a:endParaRPr lang="en-I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F1644-4507-481D-8417-246375E2DC4E}"/>
              </a:ext>
            </a:extLst>
          </p:cNvPr>
          <p:cNvSpPr txBox="1"/>
          <p:nvPr/>
        </p:nvSpPr>
        <p:spPr>
          <a:xfrm>
            <a:off x="1685364" y="1326779"/>
            <a:ext cx="6096000" cy="556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 to manage data</a:t>
            </a:r>
            <a:endParaRPr lang="en-IN" sz="2800" b="1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520B70-CB31-479A-AFDB-67CE2F32DD00}"/>
              </a:ext>
            </a:extLst>
          </p:cNvPr>
          <p:cNvSpPr txBox="1"/>
          <p:nvPr/>
        </p:nvSpPr>
        <p:spPr>
          <a:xfrm>
            <a:off x="1685364" y="1877846"/>
            <a:ext cx="6096000" cy="1347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Add data</a:t>
            </a:r>
            <a:endParaRPr lang="en-IN" sz="20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Modify data</a:t>
            </a:r>
            <a:endParaRPr lang="en-IN" sz="20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Remove data</a:t>
            </a:r>
            <a:endParaRPr lang="en-IN" sz="20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9D6EE0-3263-4106-A721-3BCCDE680CF0}"/>
              </a:ext>
            </a:extLst>
          </p:cNvPr>
          <p:cNvSpPr/>
          <p:nvPr/>
        </p:nvSpPr>
        <p:spPr>
          <a:xfrm>
            <a:off x="5275730" y="1506945"/>
            <a:ext cx="1766047" cy="466165"/>
          </a:xfrm>
          <a:prstGeom prst="roundRect">
            <a:avLst>
              <a:gd name="adj" fmla="val 22436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800" b="1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800" b="1" kern="100" dirty="0">
              <a:solidFill>
                <a:schemeClr val="bg1"/>
              </a:solidFill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24ACAD-AEF4-41CF-8B9D-D4D918F9286F}"/>
              </a:ext>
            </a:extLst>
          </p:cNvPr>
          <p:cNvSpPr txBox="1"/>
          <p:nvPr/>
        </p:nvSpPr>
        <p:spPr>
          <a:xfrm>
            <a:off x="5091952" y="1986100"/>
            <a:ext cx="7225554" cy="92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 INTO Students VALUES (1, 'John', 20);</a:t>
            </a:r>
            <a:endParaRPr lang="en-IN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7C1DDC-4A4E-47B9-B60D-31330D91CCD2}"/>
              </a:ext>
            </a:extLst>
          </p:cNvPr>
          <p:cNvSpPr txBox="1"/>
          <p:nvPr/>
        </p:nvSpPr>
        <p:spPr>
          <a:xfrm>
            <a:off x="3408828" y="3327833"/>
            <a:ext cx="3366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DQL Command</a:t>
            </a:r>
            <a:endParaRPr lang="en-IN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82A3FE-D1A0-44CB-8CD0-7A3B99E1FA1F}"/>
              </a:ext>
            </a:extLst>
          </p:cNvPr>
          <p:cNvSpPr txBox="1"/>
          <p:nvPr/>
        </p:nvSpPr>
        <p:spPr>
          <a:xfrm>
            <a:off x="883024" y="3868115"/>
            <a:ext cx="6158752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– Retrieve data from database</a:t>
            </a:r>
            <a:endParaRPr lang="en-IN" sz="20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FEF0A42-8EE6-4F0F-ACC6-39FC31428F63}"/>
              </a:ext>
            </a:extLst>
          </p:cNvPr>
          <p:cNvSpPr/>
          <p:nvPr/>
        </p:nvSpPr>
        <p:spPr>
          <a:xfrm rot="10800000" flipV="1">
            <a:off x="6427694" y="3914045"/>
            <a:ext cx="1577789" cy="483017"/>
          </a:xfrm>
          <a:prstGeom prst="roundRect">
            <a:avLst>
              <a:gd name="adj" fmla="val 31803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b="1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400" b="1" kern="100" dirty="0">
              <a:solidFill>
                <a:schemeClr val="bg1"/>
              </a:solidFill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0E4AFC-5787-4377-AD35-E84F165E322A}"/>
              </a:ext>
            </a:extLst>
          </p:cNvPr>
          <p:cNvSpPr txBox="1"/>
          <p:nvPr/>
        </p:nvSpPr>
        <p:spPr>
          <a:xfrm>
            <a:off x="7041776" y="4388305"/>
            <a:ext cx="6158752" cy="571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* FROM Students;</a:t>
            </a:r>
            <a:endParaRPr lang="en-IN" sz="2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CF4C4A-59D2-4AED-88E5-64292476B445}"/>
              </a:ext>
            </a:extLst>
          </p:cNvPr>
          <p:cNvSpPr txBox="1"/>
          <p:nvPr/>
        </p:nvSpPr>
        <p:spPr>
          <a:xfrm>
            <a:off x="3267637" y="4674153"/>
            <a:ext cx="3774139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DCL Commands</a:t>
            </a:r>
            <a:endParaRPr lang="en-IN" sz="36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AD4089-9D49-4C84-925E-F807FA025F24}"/>
              </a:ext>
            </a:extLst>
          </p:cNvPr>
          <p:cNvSpPr txBox="1"/>
          <p:nvPr/>
        </p:nvSpPr>
        <p:spPr>
          <a:xfrm>
            <a:off x="1685364" y="5363252"/>
            <a:ext cx="6687670" cy="13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 for permissions</a:t>
            </a:r>
            <a:endParaRPr lang="en-IN" sz="20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GRANT – Give access</a:t>
            </a:r>
            <a:endParaRPr lang="en-IN" sz="20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REVOKE – Remove access</a:t>
            </a:r>
            <a:endParaRPr lang="en-IN" sz="20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466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46416B-B1E8-4BC2-AAB7-8AF24AE636C3}"/>
              </a:ext>
            </a:extLst>
          </p:cNvPr>
          <p:cNvSpPr txBox="1"/>
          <p:nvPr/>
        </p:nvSpPr>
        <p:spPr>
          <a:xfrm>
            <a:off x="1609165" y="1693354"/>
            <a:ext cx="6096000" cy="1767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ROLLBACK</a:t>
            </a: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Undo changes</a:t>
            </a:r>
            <a:endParaRPr lang="en-IN" sz="2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Save changes</a:t>
            </a:r>
            <a:endParaRPr lang="en-IN" sz="2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SAVEPOINT</a:t>
            </a: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Set save point</a:t>
            </a:r>
            <a:endParaRPr lang="en-IN" sz="2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AF026-7DF5-47AB-94C2-9D034B0C6332}"/>
              </a:ext>
            </a:extLst>
          </p:cNvPr>
          <p:cNvSpPr txBox="1"/>
          <p:nvPr/>
        </p:nvSpPr>
        <p:spPr>
          <a:xfrm>
            <a:off x="4074459" y="543666"/>
            <a:ext cx="3630706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TCL Commands</a:t>
            </a:r>
            <a:endParaRPr lang="en-IN" sz="36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F9BDB2-66D7-48B0-B2C5-D423AEA14971}"/>
              </a:ext>
            </a:extLst>
          </p:cNvPr>
          <p:cNvSpPr txBox="1"/>
          <p:nvPr/>
        </p:nvSpPr>
        <p:spPr>
          <a:xfrm>
            <a:off x="1447800" y="123276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Used for transaction management</a:t>
            </a:r>
            <a:endParaRPr lang="en-IN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CA0A3-FB09-4CB5-81BC-0F5FFF9707AC}"/>
              </a:ext>
            </a:extLst>
          </p:cNvPr>
          <p:cNvSpPr txBox="1"/>
          <p:nvPr/>
        </p:nvSpPr>
        <p:spPr>
          <a:xfrm>
            <a:off x="466165" y="572177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INSERT INTO Students VALUES (101,'Rahul',20);</a:t>
            </a:r>
          </a:p>
          <a:p>
            <a:r>
              <a:rPr lang="en-IN" dirty="0"/>
              <a:t>COMMIT;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9F1A4F-793A-4C62-AEA1-2C0503F00E19}"/>
              </a:ext>
            </a:extLst>
          </p:cNvPr>
          <p:cNvSpPr txBox="1"/>
          <p:nvPr/>
        </p:nvSpPr>
        <p:spPr>
          <a:xfrm>
            <a:off x="466165" y="416882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DELETE FROM Students WHERE ID = 101;</a:t>
            </a:r>
          </a:p>
          <a:p>
            <a:r>
              <a:rPr lang="en-IN" dirty="0"/>
              <a:t>ROLLBACK;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89BAF1-1EC1-403B-94D0-8E7D9921543F}"/>
              </a:ext>
            </a:extLst>
          </p:cNvPr>
          <p:cNvSpPr txBox="1"/>
          <p:nvPr/>
        </p:nvSpPr>
        <p:spPr>
          <a:xfrm>
            <a:off x="6562165" y="4168829"/>
            <a:ext cx="63290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INSERT INTO Students VALUES (102,'Neha',21);</a:t>
            </a:r>
          </a:p>
          <a:p>
            <a:r>
              <a:rPr lang="en-IN" dirty="0"/>
              <a:t>SAVEPOINT A;</a:t>
            </a:r>
          </a:p>
          <a:p>
            <a:endParaRPr lang="en-IN" dirty="0"/>
          </a:p>
          <a:p>
            <a:r>
              <a:rPr lang="en-IN" dirty="0"/>
              <a:t>INSERT INTO Students VALUES (103,'Aman',22);</a:t>
            </a:r>
          </a:p>
          <a:p>
            <a:r>
              <a:rPr lang="en-IN" dirty="0"/>
              <a:t>ROLLBACK TO A;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CC7AFEB-A398-4DF4-B004-BD76F40A5D0A}"/>
              </a:ext>
            </a:extLst>
          </p:cNvPr>
          <p:cNvSpPr/>
          <p:nvPr/>
        </p:nvSpPr>
        <p:spPr>
          <a:xfrm rot="10800000" flipV="1">
            <a:off x="564776" y="5039553"/>
            <a:ext cx="3325906" cy="419171"/>
          </a:xfrm>
          <a:prstGeom prst="roundRect">
            <a:avLst>
              <a:gd name="adj" fmla="val 38504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COMMIT – Save changes</a:t>
            </a:r>
            <a:endParaRPr lang="en-IN" sz="2000" b="1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8442E2C-75CD-4AB6-9648-F34CAE4F3B50}"/>
              </a:ext>
            </a:extLst>
          </p:cNvPr>
          <p:cNvSpPr/>
          <p:nvPr/>
        </p:nvSpPr>
        <p:spPr>
          <a:xfrm>
            <a:off x="564775" y="3684769"/>
            <a:ext cx="3325908" cy="399853"/>
          </a:xfrm>
          <a:prstGeom prst="roundRect">
            <a:avLst>
              <a:gd name="adj" fmla="val 36882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b="1" kern="0" dirty="0">
                <a:solidFill>
                  <a:schemeClr val="bg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ROLLBACK – Undo changes</a:t>
            </a:r>
            <a:endParaRPr lang="en-IN" b="1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D9F664A-F37A-48C5-A247-845D390A9423}"/>
              </a:ext>
            </a:extLst>
          </p:cNvPr>
          <p:cNvSpPr/>
          <p:nvPr/>
        </p:nvSpPr>
        <p:spPr>
          <a:xfrm>
            <a:off x="6624915" y="3576736"/>
            <a:ext cx="3460379" cy="437793"/>
          </a:xfrm>
          <a:prstGeom prst="roundRect">
            <a:avLst>
              <a:gd name="adj" fmla="val 48055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SAVEPOINT – Set save point</a:t>
            </a:r>
            <a:endParaRPr lang="en-IN" sz="1800" b="1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388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79665A-1E89-4A7B-A176-7A803BF86524}"/>
              </a:ext>
            </a:extLst>
          </p:cNvPr>
          <p:cNvSpPr txBox="1"/>
          <p:nvPr/>
        </p:nvSpPr>
        <p:spPr>
          <a:xfrm>
            <a:off x="2232213" y="1098874"/>
            <a:ext cx="6714564" cy="207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 demand skill in IT industry</a:t>
            </a:r>
            <a:endParaRPr lang="en-IN" sz="24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Required for Data Analysis</a:t>
            </a:r>
            <a:endParaRPr lang="en-IN" sz="24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 in Web Development</a:t>
            </a:r>
            <a:endParaRPr lang="en-IN" sz="24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Essential for Backend Development</a:t>
            </a:r>
            <a:endParaRPr lang="en-IN" sz="24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B5FA1-8FF7-45AB-A8C6-A86264AF1DA0}"/>
              </a:ext>
            </a:extLst>
          </p:cNvPr>
          <p:cNvSpPr txBox="1"/>
          <p:nvPr/>
        </p:nvSpPr>
        <p:spPr>
          <a:xfrm>
            <a:off x="4285130" y="472528"/>
            <a:ext cx="4267200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Learn SQL?</a:t>
            </a:r>
            <a:endParaRPr lang="en-IN" sz="36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BA07E-C2FE-463A-96FE-D204F2831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654" y="3429000"/>
            <a:ext cx="7411346" cy="34558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2DAFCE-2E25-4A4C-B2A4-C0C8C7D21BCA}"/>
              </a:ext>
            </a:extLst>
          </p:cNvPr>
          <p:cNvSpPr txBox="1"/>
          <p:nvPr/>
        </p:nvSpPr>
        <p:spPr>
          <a:xfrm>
            <a:off x="233084" y="4265199"/>
            <a:ext cx="5172634" cy="2350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Banking systems</a:t>
            </a:r>
            <a:endParaRPr lang="en-IN" sz="2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E-commerce websites</a:t>
            </a:r>
            <a:endParaRPr lang="en-IN" sz="2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School/University databases</a:t>
            </a:r>
            <a:endParaRPr lang="en-IN" sz="2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Healthcare systems</a:t>
            </a:r>
            <a:endParaRPr lang="en-IN" sz="2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307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06F7E0-A47F-44F7-9CD1-7016DBA8B3CC}"/>
              </a:ext>
            </a:extLst>
          </p:cNvPr>
          <p:cNvSpPr txBox="1"/>
          <p:nvPr/>
        </p:nvSpPr>
        <p:spPr>
          <a:xfrm>
            <a:off x="1792941" y="1407358"/>
            <a:ext cx="6096000" cy="207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 data retrieval</a:t>
            </a:r>
            <a:endParaRPr lang="en-IN" sz="24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Easy data manipulation</a:t>
            </a:r>
            <a:endParaRPr lang="en-IN" sz="24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 language across platforms</a:t>
            </a:r>
            <a:endParaRPr lang="en-IN" sz="24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Secure and reliable</a:t>
            </a:r>
            <a:endParaRPr lang="en-IN" sz="2400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8E7E6-B735-4141-BB14-7D3002991FBC}"/>
              </a:ext>
            </a:extLst>
          </p:cNvPr>
          <p:cNvSpPr txBox="1"/>
          <p:nvPr/>
        </p:nvSpPr>
        <p:spPr>
          <a:xfrm>
            <a:off x="3908611" y="418715"/>
            <a:ext cx="6096000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 of SQL</a:t>
            </a:r>
            <a:endParaRPr lang="en-IN" sz="36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4DDB7-9F40-46B1-92AA-6DE810682AC7}"/>
              </a:ext>
            </a:extLst>
          </p:cNvPr>
          <p:cNvSpPr txBox="1"/>
          <p:nvPr/>
        </p:nvSpPr>
        <p:spPr>
          <a:xfrm>
            <a:off x="1792941" y="4728747"/>
            <a:ext cx="6096000" cy="1544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 is essential for working with databases</a:t>
            </a:r>
            <a:endParaRPr lang="en-IN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 worldwide across industries</a:t>
            </a:r>
            <a:endParaRPr lang="en-IN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Foundation for data-related careers</a:t>
            </a:r>
            <a:endParaRPr lang="en-IN" sz="2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B0D330-FED7-4A95-A6A8-3E3256B31112}"/>
              </a:ext>
            </a:extLst>
          </p:cNvPr>
          <p:cNvSpPr txBox="1"/>
          <p:nvPr/>
        </p:nvSpPr>
        <p:spPr>
          <a:xfrm>
            <a:off x="4182035" y="3887430"/>
            <a:ext cx="2895599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E13021-3255-4F3C-A72C-933B4243D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964" y="1260032"/>
            <a:ext cx="5325036" cy="26138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63B1DA-0CDF-44A9-B7E0-F4E21356A21D}"/>
              </a:ext>
            </a:extLst>
          </p:cNvPr>
          <p:cNvSpPr/>
          <p:nvPr/>
        </p:nvSpPr>
        <p:spPr>
          <a:xfrm flipV="1">
            <a:off x="11304494" y="3428999"/>
            <a:ext cx="770965" cy="33617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272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D380BE-6017-4A32-A309-28319D4669D2}"/>
              </a:ext>
            </a:extLst>
          </p:cNvPr>
          <p:cNvSpPr txBox="1"/>
          <p:nvPr/>
        </p:nvSpPr>
        <p:spPr>
          <a:xfrm>
            <a:off x="3446929" y="594771"/>
            <a:ext cx="529814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How to Download MySQL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1F0636-F483-4D79-B170-9493AD0D1E7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1693" y="1871500"/>
            <a:ext cx="542364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your browser.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Visit the official MySQL website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ED1B301-995A-4355-813A-06AB19AB0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58" y="2583054"/>
            <a:ext cx="663835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https://dev.mysql.com/downloads/installer/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 MySQL Installer for Windows.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 MYSQL-installer-community (the free version).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2801C9-E4DD-492D-A1C7-70B8C90AC927}"/>
              </a:ext>
            </a:extLst>
          </p:cNvPr>
          <p:cNvSpPr txBox="1"/>
          <p:nvPr/>
        </p:nvSpPr>
        <p:spPr>
          <a:xfrm>
            <a:off x="3446929" y="3782638"/>
            <a:ext cx="36665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Run the Installer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89B294-BB31-44A0-BFDA-AFCFE4CB8D41}"/>
              </a:ext>
            </a:extLst>
          </p:cNvPr>
          <p:cNvSpPr txBox="1"/>
          <p:nvPr/>
        </p:nvSpPr>
        <p:spPr>
          <a:xfrm>
            <a:off x="331693" y="4428969"/>
            <a:ext cx="1149275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000" dirty="0"/>
              <a:t>Double-click the downloaded file.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Click </a:t>
            </a:r>
            <a:r>
              <a:rPr lang="en-US" sz="2000" b="1" dirty="0"/>
              <a:t>Yes</a:t>
            </a:r>
            <a:r>
              <a:rPr lang="en-US" sz="2000" dirty="0"/>
              <a:t> if Windows asks for permission.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Choose </a:t>
            </a:r>
            <a:r>
              <a:rPr lang="en-US" sz="2000" b="1" dirty="0"/>
              <a:t>Developer Default</a:t>
            </a:r>
            <a:r>
              <a:rPr lang="en-US" sz="2000" dirty="0"/>
              <a:t> (recommended for beginners).</a:t>
            </a:r>
          </a:p>
          <a:p>
            <a:r>
              <a:rPr lang="en-US" sz="2000" dirty="0"/>
              <a:t>This installs: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MySQL 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MySQL Workbench (GUI to write SQL queries)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Other required tools</a:t>
            </a:r>
          </a:p>
        </p:txBody>
      </p:sp>
    </p:spTree>
    <p:extLst>
      <p:ext uri="{BB962C8B-B14F-4D97-AF65-F5344CB8AC3E}">
        <p14:creationId xmlns:p14="http://schemas.microsoft.com/office/powerpoint/2010/main" val="22950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781686-592E-4C59-9E55-2FA43D8E7593}"/>
              </a:ext>
            </a:extLst>
          </p:cNvPr>
          <p:cNvSpPr txBox="1"/>
          <p:nvPr/>
        </p:nvSpPr>
        <p:spPr>
          <a:xfrm>
            <a:off x="2931459" y="97626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Configure MySQL Server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261AC3-D61C-416A-8FBF-93F3C35FF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657" y="1859340"/>
            <a:ext cx="666077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Standalone MySQL Server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the default port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3306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Password Encryption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root password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(remember it).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9E7E9A-C586-476B-B26A-3F9ABA402651}"/>
              </a:ext>
            </a:extLst>
          </p:cNvPr>
          <p:cNvSpPr/>
          <p:nvPr/>
        </p:nvSpPr>
        <p:spPr>
          <a:xfrm>
            <a:off x="1165412" y="3665745"/>
            <a:ext cx="1766047" cy="502024"/>
          </a:xfrm>
          <a:prstGeom prst="roundRect">
            <a:avLst>
              <a:gd name="adj" fmla="val 28295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4DE31-5F8C-436C-A96A-73E52B57BF06}"/>
              </a:ext>
            </a:extLst>
          </p:cNvPr>
          <p:cNvSpPr txBox="1"/>
          <p:nvPr/>
        </p:nvSpPr>
        <p:spPr>
          <a:xfrm>
            <a:off x="1461247" y="4404514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Username: root</a:t>
            </a:r>
          </a:p>
          <a:p>
            <a:r>
              <a:rPr lang="en-IN" sz="2800" dirty="0"/>
              <a:t>Password: your _ password</a:t>
            </a:r>
          </a:p>
        </p:txBody>
      </p:sp>
    </p:spTree>
    <p:extLst>
      <p:ext uri="{BB962C8B-B14F-4D97-AF65-F5344CB8AC3E}">
        <p14:creationId xmlns:p14="http://schemas.microsoft.com/office/powerpoint/2010/main" val="2494894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0181B5-01D1-4BEC-892A-AA3D81723EAF}"/>
              </a:ext>
            </a:extLst>
          </p:cNvPr>
          <p:cNvSpPr txBox="1"/>
          <p:nvPr/>
        </p:nvSpPr>
        <p:spPr>
          <a:xfrm>
            <a:off x="3048000" y="8328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Finish Installation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97FC90-67EF-4FC1-8845-7883479071A6}"/>
              </a:ext>
            </a:extLst>
          </p:cNvPr>
          <p:cNvSpPr txBox="1"/>
          <p:nvPr/>
        </p:nvSpPr>
        <p:spPr>
          <a:xfrm>
            <a:off x="1461246" y="147915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000" dirty="0"/>
              <a:t>Click </a:t>
            </a:r>
            <a:r>
              <a:rPr lang="en-US" sz="2000" b="1" dirty="0"/>
              <a:t>Execute</a:t>
            </a:r>
            <a:r>
              <a:rPr lang="en-US" sz="2000" dirty="0"/>
              <a:t> to install components.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Click </a:t>
            </a:r>
            <a:r>
              <a:rPr lang="en-US" sz="2000" b="1" dirty="0"/>
              <a:t>Finish</a:t>
            </a:r>
            <a:r>
              <a:rPr lang="en-US" sz="2000" dirty="0"/>
              <a:t> when done.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487787-D7A0-4B9A-B073-3A1C1194708B}"/>
              </a:ext>
            </a:extLst>
          </p:cNvPr>
          <p:cNvSpPr txBox="1"/>
          <p:nvPr/>
        </p:nvSpPr>
        <p:spPr>
          <a:xfrm>
            <a:off x="3048000" y="2347863"/>
            <a:ext cx="33617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Open MySQL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D88EBB0-4D32-46C9-A041-F6863775F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1246" y="3155012"/>
            <a:ext cx="571541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Workbench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the Start Menu.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instance MySQL80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your root password.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BBE2B4-6B1D-489A-945F-6E20E776B02A}"/>
              </a:ext>
            </a:extLst>
          </p:cNvPr>
          <p:cNvSpPr txBox="1"/>
          <p:nvPr/>
        </p:nvSpPr>
        <p:spPr>
          <a:xfrm>
            <a:off x="1680882" y="5215373"/>
            <a:ext cx="8709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SELECT * FROM database _ name. table _ name;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88DE0F-6632-4B77-8100-CBD855D1058D}"/>
              </a:ext>
            </a:extLst>
          </p:cNvPr>
          <p:cNvSpPr/>
          <p:nvPr/>
        </p:nvSpPr>
        <p:spPr>
          <a:xfrm>
            <a:off x="1680882" y="4464424"/>
            <a:ext cx="1792941" cy="457200"/>
          </a:xfrm>
          <a:prstGeom prst="roundRect">
            <a:avLst>
              <a:gd name="adj" fmla="val 22549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4266136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F1D75-C255-437B-8C88-BA0FEDAE5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7129" y="2000628"/>
            <a:ext cx="9448800" cy="1825096"/>
          </a:xfrm>
        </p:spPr>
        <p:txBody>
          <a:bodyPr>
            <a:normAutofit/>
          </a:bodyPr>
          <a:lstStyle/>
          <a:p>
            <a:r>
              <a:rPr lang="en-US" sz="9600" b="1" dirty="0">
                <a:latin typeface="Algerian" panose="04020705040A02060702" pitchFamily="82" charset="0"/>
              </a:rPr>
              <a:t>THANK YOU</a:t>
            </a:r>
            <a:endParaRPr lang="en-IN" sz="9600" b="1" dirty="0">
              <a:latin typeface="Algerian" panose="04020705040A02060702" pitchFamily="82" charset="0"/>
            </a:endParaRPr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C6EA3106-F205-4EF0-A09D-2E8CE97D7B76}"/>
              </a:ext>
            </a:extLst>
          </p:cNvPr>
          <p:cNvSpPr/>
          <p:nvPr/>
        </p:nvSpPr>
        <p:spPr>
          <a:xfrm>
            <a:off x="8722659" y="2913176"/>
            <a:ext cx="1694330" cy="1533318"/>
          </a:xfrm>
          <a:prstGeom prst="smileyFac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93514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849</TotalTime>
  <Words>544</Words>
  <Application>Microsoft Office PowerPoint</Application>
  <PresentationFormat>Widescreen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Algerian</vt:lpstr>
      <vt:lpstr>Aptos</vt:lpstr>
      <vt:lpstr>Arial</vt:lpstr>
      <vt:lpstr>Century Gothic</vt:lpstr>
      <vt:lpstr>Courier New</vt:lpstr>
      <vt:lpstr>Symbol</vt:lpstr>
      <vt:lpstr>Times New Roman</vt:lpstr>
      <vt:lpstr>Vapor Trail</vt:lpstr>
      <vt:lpstr>SQL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Project</dc:title>
  <dc:creator>bhanu pratap</dc:creator>
  <cp:lastModifiedBy>bhanu pratap</cp:lastModifiedBy>
  <cp:revision>50</cp:revision>
  <dcterms:created xsi:type="dcterms:W3CDTF">2026-02-27T14:41:08Z</dcterms:created>
  <dcterms:modified xsi:type="dcterms:W3CDTF">2026-04-28T08:13:14Z</dcterms:modified>
</cp:coreProperties>
</file>